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C# 50M · 3.39</c:v>
                </c:pt>
              </c:strCache>
            </c:strRef>
          </c:tx>
          <c:spPr>
            <a:ln w="31750">
              <a:solidFill>
                <a:srgbClr val="F0B488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20 %</c:v>
                </c:pt>
                <c:pt idx="1">
                  <c:v>30 %</c:v>
                </c:pt>
                <c:pt idx="2">
                  <c:v>40 %</c:v>
                </c:pt>
                <c:pt idx="3">
                  <c:v>50 %</c:v>
                </c:pt>
                <c:pt idx="4">
                  <c:v>60 %</c:v>
                </c:pt>
                <c:pt idx="5">
                  <c:v>70 %</c:v>
                </c:pt>
                <c:pt idx="6">
                  <c:v>80 %</c:v>
                </c:pt>
                <c:pt idx="7">
                  <c:v>90 %</c:v>
                </c:pt>
                <c:pt idx="8">
                  <c:v>100 %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4.542</c:v>
                </c:pt>
                <c:pt idx="1">
                  <c:v>4.258</c:v>
                </c:pt>
                <c:pt idx="2">
                  <c:v>3.984</c:v>
                </c:pt>
                <c:pt idx="3">
                  <c:v>3.736</c:v>
                </c:pt>
                <c:pt idx="4">
                  <c:v>3.638</c:v>
                </c:pt>
                <c:pt idx="5">
                  <c:v>3.548</c:v>
                </c:pt>
                <c:pt idx="6">
                  <c:v>3.468</c:v>
                </c:pt>
                <c:pt idx="7">
                  <c:v>3.427</c:v>
                </c:pt>
                <c:pt idx="8">
                  <c:v>3.39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C# 100M · 3.19</c:v>
                </c:pt>
              </c:strCache>
            </c:strRef>
          </c:tx>
          <c:spPr>
            <a:ln w="44450">
              <a:solidFill>
                <a:srgbClr val="C9601C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20 %</c:v>
                </c:pt>
                <c:pt idx="1">
                  <c:v>30 %</c:v>
                </c:pt>
                <c:pt idx="2">
                  <c:v>40 %</c:v>
                </c:pt>
                <c:pt idx="3">
                  <c:v>50 %</c:v>
                </c:pt>
                <c:pt idx="4">
                  <c:v>60 %</c:v>
                </c:pt>
                <c:pt idx="5">
                  <c:v>70 %</c:v>
                </c:pt>
                <c:pt idx="6">
                  <c:v>80 %</c:v>
                </c:pt>
                <c:pt idx="7">
                  <c:v>90 %</c:v>
                </c:pt>
                <c:pt idx="8">
                  <c:v>100 %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4.461</c:v>
                </c:pt>
                <c:pt idx="1">
                  <c:v>4.146</c:v>
                </c:pt>
                <c:pt idx="2">
                  <c:v>3.845</c:v>
                </c:pt>
                <c:pt idx="3">
                  <c:v>3.575</c:v>
                </c:pt>
                <c:pt idx="4">
                  <c:v>3.463</c:v>
                </c:pt>
                <c:pt idx="5">
                  <c:v>3.365</c:v>
                </c:pt>
                <c:pt idx="6">
                  <c:v>3.279</c:v>
                </c:pt>
                <c:pt idx="7">
                  <c:v>3.231</c:v>
                </c:pt>
                <c:pt idx="8">
                  <c:v>3.19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 50M · 2.87</c:v>
                </c:pt>
              </c:strCache>
            </c:strRef>
          </c:tx>
          <c:spPr>
            <a:ln w="31750">
              <a:solidFill>
                <a:srgbClr val="9DB7DD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20 %</c:v>
                </c:pt>
                <c:pt idx="1">
                  <c:v>30 %</c:v>
                </c:pt>
                <c:pt idx="2">
                  <c:v>40 %</c:v>
                </c:pt>
                <c:pt idx="3">
                  <c:v>50 %</c:v>
                </c:pt>
                <c:pt idx="4">
                  <c:v>60 %</c:v>
                </c:pt>
                <c:pt idx="5">
                  <c:v>70 %</c:v>
                </c:pt>
                <c:pt idx="6">
                  <c:v>80 %</c:v>
                </c:pt>
                <c:pt idx="7">
                  <c:v>90 %</c:v>
                </c:pt>
                <c:pt idx="8">
                  <c:v>100 %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3.485</c:v>
                </c:pt>
                <c:pt idx="1">
                  <c:v>3.343</c:v>
                </c:pt>
                <c:pt idx="2">
                  <c:v>3.213</c:v>
                </c:pt>
                <c:pt idx="3">
                  <c:v>3.132</c:v>
                </c:pt>
                <c:pt idx="4">
                  <c:v>3.053</c:v>
                </c:pt>
                <c:pt idx="5">
                  <c:v>2.993</c:v>
                </c:pt>
                <c:pt idx="6">
                  <c:v>2.933</c:v>
                </c:pt>
                <c:pt idx="7">
                  <c:v>2.892</c:v>
                </c:pt>
                <c:pt idx="8">
                  <c:v>2.87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 100M · 2.67</c:v>
                </c:pt>
              </c:strCache>
            </c:strRef>
          </c:tx>
          <c:spPr>
            <a:ln w="44450">
              <a:solidFill>
                <a:srgbClr val="2C559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20 %</c:v>
                </c:pt>
                <c:pt idx="1">
                  <c:v>30 %</c:v>
                </c:pt>
                <c:pt idx="2">
                  <c:v>40 %</c:v>
                </c:pt>
                <c:pt idx="3">
                  <c:v>50 %</c:v>
                </c:pt>
                <c:pt idx="4">
                  <c:v>60 %</c:v>
                </c:pt>
                <c:pt idx="5">
                  <c:v>70 %</c:v>
                </c:pt>
                <c:pt idx="6">
                  <c:v>80 %</c:v>
                </c:pt>
                <c:pt idx="7">
                  <c:v>90 %</c:v>
                </c:pt>
                <c:pt idx="8">
                  <c:v>100 %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3.245</c:v>
                </c:pt>
                <c:pt idx="1">
                  <c:v>3.112</c:v>
                </c:pt>
                <c:pt idx="2">
                  <c:v>3.003</c:v>
                </c:pt>
                <c:pt idx="3">
                  <c:v>2.922</c:v>
                </c:pt>
                <c:pt idx="4">
                  <c:v>2.843</c:v>
                </c:pt>
                <c:pt idx="5">
                  <c:v>2.783</c:v>
                </c:pt>
                <c:pt idx="6">
                  <c:v>2.723</c:v>
                </c:pt>
                <c:pt idx="7">
                  <c:v>2.682</c:v>
                </c:pt>
                <c:pt idx="8">
                  <c:v>2.67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доля обучения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B7684"/>
                </a:solidFill>
                <a:latin typeface="IBM Plex 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8"/>
          <c:min val="2.5"/>
        </c:scaling>
        <c:delete val="0"/>
        <c:axPos val="l"/>
        <c:majorGridlines>
          <c:spPr>
            <a:ln>
              <a:solidFill>
                <a:srgbClr val="DAD6C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perplexity на проверке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B7684"/>
                </a:solidFill>
                <a:latin typeface="IBM Plex Sans"/>
              </a:defRPr>
            </a:pPr>
          </a:p>
        </c:txPr>
        <c:crossAx val="2118791784"/>
        <c:crosses val="autoZero"/>
        <c:majorUnit val="0.5"/>
      </c:valAx>
    </c:plotArea>
    <c:legend>
      <c:legendPos/>
      <c:layout/>
      <c:overlay val="0"/>
      <c:txPr>
        <a:bodyPr/>
        <a:lstStyle/>
        <a:p>
          <a:pPr>
            <a:defRPr sz="1300">
              <a:latin typeface="IBM Plex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Привет. Я расскажу, как мы сделали собственную модель, которая дописывает строку кода прямо в IDE — серым текстом, как Copilot, но целиком локально: модель на 50 миллионов параметров работает на процессоре ноутбука внутри плагина IntelliJ, без Python, без ONNX, без сервера. Два языка — C# и Go. За несколько дней мы собрали датасет из десятков тысяч репозиториев, обучили модели с нуля, дообучили их под задачу плагина и получили на честной проверке плюс 11 процентных пунктов для C# и плюс 17 для Go к тому, что было в плагине. И по дороге нашли несколько неочевидных вещей — про loss, про шаг обучения и про то, как модель теряет пробелы.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простая на словах: пользователь пишет код, а мы предлагаем остаток текущей строки серым текстом. Tab — принять. Но ограничения жёсткие. Всё работает на процессоре ноутбука пользователя, бюджет — 150 миллисекунд на строку и секунда на первый «холодный» файл. Никаких внешних рантаймов: у плагина свой движок на Kotlin с нативными int8-ядрами и свой формат модели. И модель маленькая — около 50 мегабайт в плагине. То есть никакой большой LLM: всё качество нужно выжать из 50 миллионов параметров, и выжимать его будем данными и обучением.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— маленький Llama: всё стандартное, но каждая операция переписана руками на Kotlin и нативные ядра, поэтому архитектура минимальная. Контекст 2048 токенов, свой BPE-словарь на 16 тысяч токенов для каждого языка. Модель видит и код до курсора, и код после — это формат fill-in-the-middle. Размер мы выбирали не по красивой цифре, а по бенчмарку: строка у 50-миллионной модели — 67 миллисекунд, у 100-миллионной — 122, при бюджете 150. Поэтому основная модель — 50M, а 100M — кандидат для мощных машин.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Отправная точка — модели, которые уже стояли в плагине. Для C# в отчёте движка была цифра 51,6 процента угаданных строк. Мы собрали собственный чистый набор — 12 тысяч позиций из репозиториев, которых не видела ни одна модель, — и та же самая модель на нём даёт 32,7. Дело не в том, что модель плохая: просто тесты разные. Тест движка брал позиции из той же генеральной совокупности кода, а наш — из свежих маленьких репозиториев, где код разнообразнее. Отсюда первое правило всей работы: никаких сравнений «наша цифра против их цифры», только одинаковый набор и парный бутстрап.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Данные. Мы собрали публичные репозитории GitHub: для C# — 29 тысяч, для Go — 43 тысячи, итого 6,5 и 10,4 миллиарда токенов для обучения языку. Важно, что мы ничего не собираем и не запускаем: Roslyn и go/types разбирают файл как есть, без restore и MSBuild — чужой код небезопасен. Из файлов мы делаем позиции курсора по стратам: после точки, внутри аргументов, после return, в начале строки — и проверяем, что префикс плюс ответ плюс суффикс восстанавливают файл до байта. Плюс лицензии, дедупликация, вычистка сгенерированного кода и секретов. На язык получилось около миллиона обучающих позиций — примерно миллиард токенов. Всё это собиралось на двух CPU-серверах примерно за сутки и лежит в открытых датасетах на Hugging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— самая важная часть. До обучения мы отложили по 300 свежих репозиториев на язык и исключили их отовсюду; скрипт проверяет, что общих репозиториев ноль. Дополнительно MinHash находит файлы-почти-копии — форки, вендоринг — это 4–5 процентов, их убираем из оценки. Дальше 12 тысяч позиций, и декодирует сам движок плагина с его правилом показа подсказки. Три метрики: угадана ли строка целиком, какую долю позиций плагин вообще показал и какая доля показанных верна. И все сравнения — парным бутстрапом на одних и тех же позициях, с доверительным интервалом. Иначе разницу в один процент от шума не отличить.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эксперимент был про контекст. Идея красивая: перед строкой дать модели факты от Roslyn — локальные переменные, параметры, члены типа после точки. Мы дообучили готовую модель в двух вариантах на одних и тех же позициях — с этим блоком и без. Результат: дообучение само по себе дало плюс 6,6 пункта, а блок контекста — минус один. Разбор показал почему: почти всё из блока модель и так видит в коде выше, а то, чего не видит, — например, нужный метод после точки — часто не помещалось в обрезанный список. Решение — плагин под контекст не дорабатываем, вкладываемся в данные и обучение. Это сэкономило недели работы над плагинами.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идея дообучения: модель учится ровно на том промпте, который потом соберёт плагин. Сначала идёт код после текущей строки, потом путь файла, потом код до курсора — это формат fill-in-the-middle. Мы переписали сборку промпта на Python и сверили с движком: тысяча из тысячи промптов совпали байт в байт, лечение токенов — три тысячи из трёх. Ответ — это остаток текущей строки плюс стоп-токен, и loss считается только на нём, а не на всём документе. Один проход по миллиону документов — от двадцати до сорока пяти минут на двух H200.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 мы обучили модели языку с нуля на своём корпусе, по рецепту движка: шаг обучения от 2e-3 до 2e-4, полмиллиона токенов на шаг, одна эпоха. На графике — perplexity на проверочной части по ходу обучения: оранжевые линии — C#, синие — Go, пунктир — 50 миллионов, сплошная — 100 миллионов. 100M идёт ниже на всём пути и заканчивает на 3,19 против 3,39 для C# и 2,67 против 2,87 для Go. По времени: C# 50M — 73 минуты на двух H200, 100M — чуть больше двух часов. Отдельная инженерная деталь: Go 100M мы переносили с H100 на H200 посреди обучения, с конвертацией состояния загрузчика данных под две карты — без повторов и пропусков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Ловушка, на которую легко попасться. При дообучении loss сначала резко падает, а потом растёт — с 0,78 до 1,07. По учебнику это значит, что модель портится. Мы проверили — нет: по итогу дообучения качество выросло с 33,5 до 40,5 процента строк целиком. Разбор показал две вещи. Первая — стоп-токен: модель, обученная на целых файлах, никогда не видела «конец ответа» сразу после строки, у неё на этом токене loss 3,6, и это десятая часть всех токенов ответа. Она выучивает его за сто шагов — отсюда резкое падение. Вторая — рост потом действительно был ухудшением на самих строках, и это подсказало, что шаг обучения слишком большой. Вывод: никаких решений по loss, только по замерам на чистых позициях. Мы мерили качество каждые четыре тысячи шагов прямо на соседней карте.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Растущий loss подсказал, что шаг обучения 2e-4 великоват. Мы поставили короткие прогоны на запасной H100 — по пятнадцать минут каждый, 18 процентов данных, — и длинный прогон с шагом 5e-5. На графике строка целиком на двух тысячах позиций. 2e-4 — 38,7 процента. 1e-4 и 2e-5 на коротком отрезке — около 41,5. 5e-5 на полном объёме — 43,2. На полных двенадцати тысячах позиций это 40,5 против 43,8: плюс 3,3 пункта от одной цифры в конфиге. Мораль: у маленькой модели с шумными градиентами — всего несколько сотен токенов ответа в шаге — маленький шаг обучения оказывается важнее почти всего остального.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 для моделей того же размера, 50 миллионов. Обучение с нуля на своих данных плюс дообучение на задаче. C#: строк, угаданных целиком, было 32,7 процента, стало 43,8 — плюс 11 пунктов. Go: 34,8 стало 51,8 — плюс 17. Подсказка показывается почти вдвое чаще, и при этом точность показанных выше: из десяти показанных девять верны, у старых моделей — восемь. Самое важное — это при том же размере и той же скорости: плагину не нужно ничего, кроме нового файла модели. Обе модели уже в репозиториях плагинов.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Где именно выигрыш. Самое драматичное — позиции, где нужно начать выражение: после return или new, после оператора, в лямбдах. Старая модель там угадывала строку в 1–4 процентах случаев — почти никогда, а новая — почти в половине. Это прямой эффект дообучения на позициях курсора: старая модель училась продолжать файл, а не отвечать на вопрос «что дальше на этой строке». В аргументах — с 29 до 48. А вот после точки и в недописанных именах прирост скромный, 3 пункта: там решают знания о членах типов из других файлов, которых модель не видит. Это направление на будущее.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 если взять модель вдвое больше? Мы обучили 100-миллионные версии на тех же данных тем же рецептом. Прирост есть: для C# плюс 2 пункта, для Go — плюс 3,5, и подсказок заметно больше при той же точности. Но цена — вдвое большая задержка, 122 миллисекунды на строку против 67, вдвое больший файл и память. Поэтому в плагине основная модель остаётся 50M, а 100M — кандидат для мощных машин или режим «качество». Цифры здесь уже на промптах нового образца — почему они чуть выше, чем на прошлом слайде, расскажу на следующем.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Самая неожиданная история. Разработчик плагина прислал: модель предлагает newHelloReply без пробела. Модели до дообучения писали правильно. Модель видит не буквы, а токены, и пробел — часть токена следующего слова: new, пробел-Hel, lo, Reply. Дообученная выбрала токен Hello без пробела. Причина нашлась в данных: в редакторе после курсора ничего нет, и когда пользователь набрал return и пробел, промпт заканчивался отдельным токеном-пробелом, а ответ начинался со слова без пробела. Так было в 14 процентах документов C# и 22 процентах Go — и модель научилась «словам без пробела». Мы поменяли правило: пробел перед курсором становится частью ответа — и в данных, и в движке. Неожиданный бонус: одно это правило подняло даже старые модели — C# с 32,7 до 39,3, Go с 34,8 до 45,7, без переобучения. А у Go потерянные пробелы упали с 16 до 5 на две тысячи ответов — до уровня модели без дообучения.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Сводная таблица — все модели на одном наборе и одних промптах нового образца. Для C# основная модель 50M: 44,3 процента строк целиком против 39,3 у старой, подсказок почти вдвое больше, точность почти 90 процентов. Для Go 50M: 52,5 против 45,7 и точность почти 92 процента. 100-миллионные модели добавляют ещё 2–4 пункта за двукратную задержку. Все модели, данные и журналы экспериментов сохранены — данные в открытых датасетах на Hugging Face, модели — в отдельном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я бы взял с собой в следующий проект. Первое — учить модель на задаче в точном формате плагина: это дало от 7 до 16 пунктов. Второе — маленький шаг обучения при дообучении: ещё 3 пункта. Третье — не верить loss, а мерить качество по ходу обучения на чистых позициях. Четвёртое — честный проверочный набор и парный бутстрап: без этого разница в процент неотличима от шума. Пятое — проверять идеи дёшево: эксперимент с контекстом занял час на арендованных картах и сэкономил недели доработки плагинов. И шестое — смотреть на токены: один пробел в промпте стоил до 11 пунктов. И про инфраструктуру: арендованные серверы пропадают, поэтому снимки копировались каждые 20 минут, а обучение мы переносили между серверами без потерь.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дальше. Первое и самое дешёвое — внести новое правило пробелов в движок обоих плагинов: оно поднимает качество даже без новых моделей. Второе — подмешивать данные обучения языку в дообучение, чтобы модель не забывала, как ставить пробелы посреди строки: у C# остались редкие склейки. Третье — многострочные подсказки, например тело метода после открывающей скобки, — для этого в формате уже зарезервирован отдельный стоп-токен. Четвёртое — знания из соседних файлов: после точки наш прирост скромный, и там нужна информация о типах, которых модель не видит. И пятое — 100-миллионная модель как режим «качество», когда замерим задержку на реальных ноутбуках. Все данные открыты на Hugging Face, код — на GitHub. Спасибо, буду рад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E0782F"/>
                </a:solidFill>
                <a:latin typeface="JetBrains Mono"/>
              </a:rPr>
              <a:t>IT-КОНФЕРЕНЦИЯ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905000"/>
            <a:ext cx="105664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>
                <a:solidFill>
                  <a:srgbClr val="F6F4EF"/>
                </a:solidFill>
                <a:latin typeface="IBM Plex Sans"/>
              </a:rPr>
              <a:t>Своя модель автодополнения строк</a:t>
            </a:r>
          </a:p>
          <a:p>
            <a:pPr>
              <a:lnSpc>
                <a:spcPct val="100000"/>
              </a:lnSpc>
            </a:pPr>
            <a:r>
              <a:rPr sz="4000" b="1">
                <a:solidFill>
                  <a:srgbClr val="F6F4EF"/>
                </a:solidFill>
                <a:latin typeface="IBM Plex Sans"/>
              </a:rPr>
              <a:t>для плагинов IntelliJ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064000"/>
            <a:ext cx="1056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BFC8D2"/>
                </a:solidFill>
                <a:latin typeface="IBM Plex Sans"/>
              </a:rPr>
              <a:t>C# и Go · 50–100 млн параметров · CPU ноутбука · без внешних рантаймов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5207000"/>
            <a:ext cx="6350000" cy="533400"/>
          </a:xfrm>
          <a:prstGeom prst="roundRect">
            <a:avLst>
              <a:gd name="adj" fmla="val 14285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5207000"/>
            <a:ext cx="609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F6F4EF"/>
                </a:solidFill>
                <a:latin typeface="JetBrains Mono"/>
              </a:rPr>
              <a:t>return Task.FromResult(</a:t>
            </a:r>
            <a:r>
              <a:rPr sz="1600" b="0">
                <a:solidFill>
                  <a:srgbClr val="7F8C99"/>
                </a:solidFill>
                <a:latin typeface="JetBrains Mono"/>
              </a:rPr>
              <a:t>new HelloReply { …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3000" y="52070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BFC8D2"/>
                </a:solidFill>
                <a:latin typeface="IBM Plex Sans"/>
              </a:rPr>
              <a:t>[Имя докладчика] · [компания]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Дописать строку серым текстом — локально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2000"/>
            <a:ext cx="5105400" cy="3810000"/>
          </a:xfrm>
          <a:prstGeom prst="roundRect">
            <a:avLst>
              <a:gd name="adj" fmla="val 3333"/>
            </a:avLst>
          </a:prstGeom>
          <a:solidFill>
            <a:srgbClr val="13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3368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500" b="0">
                <a:solidFill>
                  <a:srgbClr val="BFC8D2"/>
                </a:solidFill>
                <a:latin typeface="JetBrains Mono"/>
              </a:rPr>
              <a:t>public async Task StopAsync()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BFC8D2"/>
                </a:solidFill>
                <a:latin typeface="JetBrains Mono"/>
              </a:rPr>
              <a:t>{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F6F4EF"/>
                </a:solidFill>
                <a:latin typeface="JetBrains Mono"/>
              </a:rPr>
              <a:t>    await _client.</a:t>
            </a:r>
            <a:r>
              <a:rPr sz="1500" b="0">
                <a:solidFill>
                  <a:srgbClr val="E0782F"/>
                </a:solidFill>
                <a:latin typeface="JetBrains Mono"/>
              </a:rPr>
              <a:t>StopAsync();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BFC8D2"/>
                </a:solidFill>
                <a:latin typeface="JetBrains Mon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4572000"/>
            <a:ext cx="457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Курсор — после точки. Серым — остаток строки, Tab принимает. Показываем, только если модель уверена.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3800" y="2032000"/>
            <a:ext cx="51054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22225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13202E"/>
                </a:solidFill>
                <a:latin typeface="IBM Plex Sans"/>
              </a:rPr>
              <a:t>CPU ноутбука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6035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строка ≤ 150 мс, холодный файл ≤ 1 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3800" y="3352800"/>
            <a:ext cx="51054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35433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13202E"/>
                </a:solidFill>
                <a:latin typeface="IBM Plex Sans"/>
              </a:rPr>
              <a:t>Без внешних рантаймов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9243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свой движок: Kotlin + нативные int8-ядра, формат .cml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3800" y="4673600"/>
            <a:ext cx="5105400" cy="11684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48641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13202E"/>
                </a:solidFill>
                <a:latin typeface="IBM Plex Sans"/>
              </a:rPr>
              <a:t>Маленькая модель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52451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50 МБ в плагине, 50–100 млн параметров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2 · плагины idea-dotnet-support (C#) и idea-golang-support (Go)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Маленький Llama: размер решает задержка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5080000" cy="330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600" b="0">
                <a:solidFill>
                  <a:srgbClr val="13202E"/>
                </a:solidFill>
                <a:latin typeface="IBM Plex Sans"/>
              </a:rPr>
              <a:t>Decoder-only трансформер: RMSNorm, RoPE, GQA, SwiGLU, общие эмбеддинги.</a:t>
            </a:r>
          </a:p>
          <a:p>
            <a:pPr>
              <a:lnSpc>
                <a:spcPct val="145000"/>
              </a:lnSpc>
            </a:pPr>
            <a:r>
              <a:rPr sz="1600" b="0">
                <a:solidFill>
                  <a:srgbClr val="13202E"/>
                </a:solidFill>
                <a:latin typeface="IBM Plex Sans"/>
              </a:rPr>
              <a:t>Контекст 2048 токенов, BPE 16 384 на язык.</a:t>
            </a:r>
          </a:p>
          <a:p>
            <a:pPr>
              <a:lnSpc>
                <a:spcPct val="145000"/>
              </a:lnSpc>
            </a:pPr>
            <a:r>
              <a:rPr sz="1600" b="0">
                <a:solidFill>
                  <a:srgbClr val="13202E"/>
                </a:solidFill>
                <a:latin typeface="IBM Plex Sans"/>
              </a:rPr>
              <a:t>Промпт — fill-in-the-middle: модель видит код и до, и после курсора.</a:t>
            </a:r>
          </a:p>
          <a:p>
            <a:pPr>
              <a:lnSpc>
                <a:spcPct val="145000"/>
              </a:lnSpc>
            </a:pPr>
            <a:r>
              <a:rPr sz="1600" b="0">
                <a:solidFill>
                  <a:srgbClr val="13202E"/>
                </a:solidFill>
                <a:latin typeface="IBM Plex Sans"/>
              </a:rPr>
              <a:t>Экспорт в int8 по столбцам — без потерь качества.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73800" y="2095500"/>
          <a:ext cx="51054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1531620"/>
                <a:gridCol w="1531620"/>
              </a:tblGrid>
              <a:tr h="406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3202E"/>
                          </a:solidFill>
                          <a:latin typeface="IBM Plex Sans"/>
                        </a:rPr>
                        <a:t>модель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3202E"/>
                          </a:solidFill>
                          <a:latin typeface="IBM Plex Sans"/>
                        </a:rPr>
                        <a:t>параметры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3202E"/>
                          </a:solidFill>
                          <a:latin typeface="IBM Plex Sans"/>
                        </a:rPr>
                        <a:t>строка, мс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S · d512 × 8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31 M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46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M · d640 × 10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50 M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67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L · d768 × 12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102 M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3202E"/>
                          </a:solidFill>
                          <a:latin typeface="IBM Plex Sans"/>
                        </a:rPr>
                        <a:t>122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73800" y="3937000"/>
            <a:ext cx="5105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A5563"/>
                </a:solidFill>
                <a:latin typeface="IBM Plex Sans"/>
              </a:rPr>
              <a:t>Нативные q8-ядра, 8 потоков, промпт 512 + 20 токенов. Бюджет — 150 мс: 50M с запасом, 100M на границе.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3 · замеры движка idea-ml-completion (NnBench, EPYC)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ОТПРАВНАЯ ТОЧКА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Одна и та же модель: 51.6 % или 32.7 %?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30800" cy="22860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3495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6000" b="1">
                <a:solidFill>
                  <a:srgbClr val="7F8C99"/>
                </a:solidFill>
                <a:latin typeface="IBM Plex Sans"/>
              </a:rPr>
              <a:t>51.6 %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3302000"/>
            <a:ext cx="457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13202E"/>
                </a:solidFill>
                <a:latin typeface="IBM Plex Sans"/>
              </a:rPr>
              <a:t>тест движка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6830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3 000 позиций из тестовой части того же корпуса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0" y="2095500"/>
            <a:ext cx="5130800" cy="2286000"/>
          </a:xfrm>
          <a:prstGeom prst="roundRect">
            <a:avLst>
              <a:gd name="adj" fmla="val 5555"/>
            </a:avLst>
          </a:prstGeom>
          <a:solidFill>
            <a:srgbClr val="13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200" y="23495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6000" b="1">
                <a:solidFill>
                  <a:srgbClr val="E0782F"/>
                </a:solidFill>
                <a:latin typeface="IBM Plex Sans"/>
              </a:rPr>
              <a:t>32.7 %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302000"/>
            <a:ext cx="457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F6F4EF"/>
                </a:solidFill>
                <a:latin typeface="IBM Plex Sans"/>
              </a:rPr>
              <a:t>чистый набор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6830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BFC8D2"/>
                </a:solidFill>
                <a:latin typeface="IBM Plex Sans"/>
              </a:rPr>
              <a:t>12 000 позиций из репозиториев, которых не видела ни одна 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6990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13202E"/>
                </a:solidFill>
                <a:latin typeface="IBM Plex Sans"/>
              </a:rPr>
              <a:t>Строка угадана целиком — у готовой C#-модели плагина 50M. Первое правило: сравнивать только на одинаковом, честно изолированном наборе.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4 · cs-nn-50m-e3-lr2e3 · «строка целиком» = остаток строки совпал с точностью до хвостовых пробелов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solidFill>
                  <a:srgbClr val="13202E"/>
                </a:solidFill>
                <a:latin typeface="IBM Plex Sans"/>
              </a:rPr>
              <a:t>Десятки тысяч репозиториев — без сборки кода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2000"/>
            <a:ext cx="3390900" cy="14605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2225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4A5563"/>
                </a:solidFill>
                <a:latin typeface="IBM Plex Sans"/>
              </a:rPr>
              <a:t>C#: репозитории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2489200"/>
            <a:ext cx="298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13202E"/>
                </a:solidFill>
                <a:latin typeface="IBM Plex Sans"/>
              </a:rPr>
              <a:t>29 117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086100"/>
            <a:ext cx="298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6.47 млрд токенов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6900" y="2032000"/>
            <a:ext cx="3390900" cy="14605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5500" y="22225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4A5563"/>
                </a:solidFill>
                <a:latin typeface="IBM Plex Sans"/>
              </a:rPr>
              <a:t>Go: репозитории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00" y="2489200"/>
            <a:ext cx="298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13202E"/>
                </a:solidFill>
                <a:latin typeface="IBM Plex Sans"/>
              </a:rPr>
              <a:t>43 356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500" y="3086100"/>
            <a:ext cx="298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10.42 млрд токенов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32000"/>
            <a:ext cx="3390900" cy="1460500"/>
          </a:xfrm>
          <a:prstGeom prst="roundRect">
            <a:avLst>
              <a:gd name="adj" fmla="val 6956"/>
            </a:avLst>
          </a:prstGeom>
          <a:solidFill>
            <a:srgbClr val="13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225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BFC8D2"/>
                </a:solidFill>
                <a:latin typeface="IBM Plex Sans"/>
              </a:rPr>
              <a:t>позиции курсора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89200"/>
            <a:ext cx="298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E0782F"/>
                </a:solidFill>
                <a:latin typeface="IBM Plex Sans"/>
              </a:rPr>
              <a:t>1.05 млн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86100"/>
            <a:ext cx="298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BFC8D2"/>
                </a:solidFill>
                <a:latin typeface="IBM Plex Sans"/>
              </a:rPr>
              <a:t>на язык, ~1 млрд токенов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8735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Разбор, а не сборка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4216400"/>
            <a:ext cx="335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Roslyn и go/types на снимке файла: ни restore, ни MSBuild, ни запуска чужого кода.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38735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Позиции по стратам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4216400"/>
            <a:ext cx="335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после точки, в аргументах, после return, начало строки… Точная реконструкция до байта.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6400" y="38735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Гигиена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6400" y="4216400"/>
            <a:ext cx="335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лицензии из allowlist, дедуп по хэшу, сгенерированный код и секреты — вон.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5 · публичные датасеты HF: csharp-ml-complation, go-ml-complation · два CPU-сервера по 128 ядер, ~1 сутки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ЧЕСТНАЯ ОЦЕНКА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Проверка на коде, которого никто не видел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33020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000" b="1">
                <a:solidFill>
                  <a:srgbClr val="13202E"/>
                </a:solidFill>
                <a:latin typeface="IBM Plex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683000"/>
            <a:ext cx="3302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4A5563"/>
                </a:solidFill>
                <a:latin typeface="IBM Plex Sans"/>
              </a:rPr>
              <a:t>общих репозиториев у обучения и проверки — проверено скриптом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9600" y="2159000"/>
            <a:ext cx="139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A8521A"/>
                </a:solidFill>
                <a:latin typeface="IBM Plex Sans"/>
              </a:rPr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000" y="2184400"/>
            <a:ext cx="5410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свежих репозиториев на язык (5–19 ★), отложены до обучения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600" y="2984500"/>
            <a:ext cx="139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A8521A"/>
                </a:solidFill>
                <a:latin typeface="IBM Plex Sans"/>
              </a:rPr>
              <a:t>4–5 %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0" y="3009900"/>
            <a:ext cx="5410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файлов-почти-копий убраны из оценки (MinHash, Jaccard ≥ 0.8)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3810000"/>
            <a:ext cx="139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A8521A"/>
                </a:solidFill>
                <a:latin typeface="IBM Plex Sans"/>
              </a:rPr>
              <a:t>12 000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9000" y="3835400"/>
            <a:ext cx="5410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позиций, движок плагина как декодер, его порог показа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4635500"/>
            <a:ext cx="139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A8521A"/>
                </a:solidFill>
                <a:latin typeface="IBM Plex Sans"/>
              </a:rPr>
              <a:t>95 %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9000" y="4660900"/>
            <a:ext cx="5410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доверительный интервал: парный бутстрап на одних позициях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6 · метрики: строка целиком · доля показанных подсказок · точность показанных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ЭКСПЕРИМЕНТ 1 ·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Факты о типах не помогли. Задача — помогла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32000"/>
            <a:ext cx="3302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Готовая модель плагина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200" y="2032000"/>
            <a:ext cx="4876800" cy="330200"/>
          </a:xfrm>
          <a:prstGeom prst="roundRect">
            <a:avLst>
              <a:gd name="adj" fmla="val 11538"/>
            </a:avLst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71000" y="20320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32.9 %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514600"/>
            <a:ext cx="3302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3202E"/>
                </a:solidFill>
                <a:latin typeface="IBM Plex Sans"/>
              </a:rPr>
              <a:t>Дообучение на задаче, без контекста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2514600"/>
            <a:ext cx="5861050" cy="330200"/>
          </a:xfrm>
          <a:prstGeom prst="roundRect">
            <a:avLst>
              <a:gd name="adj" fmla="val 11538"/>
            </a:avLst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55250" y="25146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39.5 %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997200"/>
            <a:ext cx="3302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С контекстом: только профиль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2997200"/>
            <a:ext cx="5791200" cy="330200"/>
          </a:xfrm>
          <a:prstGeom prst="roundRect">
            <a:avLst>
              <a:gd name="adj" fmla="val 11538"/>
            </a:avLst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5400" y="29972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39.1 %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79800"/>
            <a:ext cx="3302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С контекстом: профиль + факты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3479800"/>
            <a:ext cx="5721350" cy="330200"/>
          </a:xfrm>
          <a:prstGeom prst="roundRect">
            <a:avLst>
              <a:gd name="adj" fmla="val 11538"/>
            </a:avLst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5550" y="34798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38.6 %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191000"/>
            <a:ext cx="508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+6.6 п.п.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— само дообучение на позициях курсора (95 %: +5.8…+7.4).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6800" y="4191000"/>
            <a:ext cx="52324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−0.95 п.п.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— блок LOCAL / ARG / RECV / MEMBER: повторяет видимый код, а нужного члена в обрезанном списке часто нет.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7 · C# 50M, 311 тыс. позиций, 2× RTX PRO 6000, ~1 ч · строка целиком, 12 000 позиций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ДООБУЧЕНИЕ НА ЗАДАЧЕ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solidFill>
                  <a:srgbClr val="13202E"/>
                </a:solidFill>
                <a:latin typeface="IBM Plex Sans"/>
              </a:rPr>
              <a:t>Учим ровно на том промпте, который соберёт плагин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095500"/>
            <a:ext cx="2298700" cy="1079500"/>
          </a:xfrm>
          <a:prstGeom prst="rect">
            <a:avLst/>
          </a:prstGeom>
          <a:solidFill>
            <a:srgbClr val="DCE5F1"/>
          </a:solidFill>
          <a:ln w="9525">
            <a:solidFill>
              <a:srgbClr val="3B6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7900" y="22860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C5592"/>
                </a:solidFill>
                <a:latin typeface="JetBrains Mono"/>
              </a:rPr>
              <a:t>fim_prefix fim_suffix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2603500"/>
            <a:ext cx="1968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код после строки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111500" y="2095500"/>
            <a:ext cx="2298700" cy="1079500"/>
          </a:xfrm>
          <a:prstGeom prst="rect">
            <a:avLst/>
          </a:prstGeom>
          <a:solidFill>
            <a:srgbClr val="DCE5F1"/>
          </a:solidFill>
          <a:ln w="9525">
            <a:solidFill>
              <a:srgbClr val="3B6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600" y="22860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C5592"/>
                </a:solidFill>
                <a:latin typeface="JetBrains Mono"/>
              </a:rPr>
              <a:t>fim_middle file_sep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0" y="2603500"/>
            <a:ext cx="1968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путь файла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0200" y="2095500"/>
            <a:ext cx="2984500" cy="1079500"/>
          </a:xfrm>
          <a:prstGeom prst="rect">
            <a:avLst/>
          </a:prstGeom>
          <a:solidFill>
            <a:srgbClr val="DCE5F1"/>
          </a:solidFill>
          <a:ln w="9525">
            <a:solidFill>
              <a:srgbClr val="3B6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5300" y="2286000"/>
            <a:ext cx="2654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C5592"/>
                </a:solidFill>
                <a:latin typeface="JetBrains Mono"/>
              </a:rPr>
              <a:t>≤ 1024 токена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5300" y="2603500"/>
            <a:ext cx="2654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код до курсора ⟨⟩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700" y="2095500"/>
            <a:ext cx="2984500" cy="1079500"/>
          </a:xfrm>
          <a:prstGeom prst="rect">
            <a:avLst/>
          </a:prstGeom>
          <a:solidFill>
            <a:srgbClr val="FBE3D0"/>
          </a:solidFill>
          <a:ln w="9525">
            <a:solidFill>
              <a:srgbClr val="E07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9800" y="2286000"/>
            <a:ext cx="2654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loss только здесь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9800" y="2603500"/>
            <a:ext cx="2654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остаток строки + 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6195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Байт в байт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975100"/>
            <a:ext cx="335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Сборка промпта совпала с движком плагина на 1 000 из 1 000 позиций, лечение токенов — 3 000 из 3 000.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36195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Ответ — одна строка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3975100"/>
            <a:ext cx="335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Остаток физической строки и стоп-токен; переносов внутри ответа нет.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6400" y="36195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Один проход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6400" y="3975100"/>
            <a:ext cx="33528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1.05 млн документов, ~1 млрд токенов, 20–45 минут на 2× H200.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8 · SPM fill-in-the-middle, как у движка idea-ml-completion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ОБУЧЕНИЕ ЯЗЫКУ С НУЛЯ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solidFill>
                  <a:srgbClr val="13202E"/>
                </a:solidFill>
                <a:latin typeface="IBM Plex Sans"/>
              </a:rPr>
              <a:t>100M стабильно впереди 50M на тех же данных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12800" y="1905000"/>
          <a:ext cx="10566400" cy="4064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9 · lr 2e-3 → 2e-4, 0.5 млн токенов/шаг, FIM 0.7 · C# 50M 73 мин, 100M 2 ч 18 мин, Go 100M ~3 ч на 2× H200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E0782F"/>
                </a:solidFill>
                <a:latin typeface="JetBrains Mono"/>
              </a:rPr>
              <a:t>ЛОВУШКА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solidFill>
                  <a:srgbClr val="F6F4EF"/>
                </a:solidFill>
                <a:latin typeface="IBM Plex Sans"/>
              </a:rPr>
              <a:t>Loss дообучения рос — а модель становилась лучше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2000"/>
            <a:ext cx="5130800" cy="2413000"/>
          </a:xfrm>
          <a:prstGeom prst="roundRect">
            <a:avLst>
              <a:gd name="adj" fmla="val 5263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2860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4800" b="1">
                <a:solidFill>
                  <a:srgbClr val="E0782F"/>
                </a:solidFill>
                <a:latin typeface="IBM Plex Sans"/>
              </a:rPr>
              <a:t>0.78 → 1.07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3111500"/>
            <a:ext cx="457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6F4EF"/>
                </a:solidFill>
                <a:latin typeface="IBM Plex Sans"/>
              </a:rPr>
              <a:t>loss на ответах, первая треть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34925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BFC8D2"/>
                </a:solidFill>
                <a:latin typeface="IBM Plex Sans"/>
              </a:rPr>
              <a:t>а строк целиком в итоге: 33.5 % → 40.5 %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0" y="2032000"/>
            <a:ext cx="5130800" cy="2413000"/>
          </a:xfrm>
          <a:prstGeom prst="roundRect">
            <a:avLst>
              <a:gd name="adj" fmla="val 5263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7800" y="22860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4800" b="1">
                <a:solidFill>
                  <a:srgbClr val="9DB7DD"/>
                </a:solidFill>
                <a:latin typeface="IBM Plex Sans"/>
              </a:rPr>
              <a:t>3.6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0" y="3111500"/>
            <a:ext cx="457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6F4EF"/>
                </a:solidFill>
                <a:latin typeface="IBM Plex Sans"/>
              </a:rPr>
              <a:t>loss на стоп-токене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0" y="34925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BFC8D2"/>
                </a:solidFill>
                <a:latin typeface="IBM Plex Sans"/>
              </a:rPr>
              <a:t>модель на целых файлах не видела «конец ответа» после строки; выучивает его за ~100 шагов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7625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F6F4EF"/>
                </a:solidFill>
                <a:latin typeface="IBM Plex Sans"/>
              </a:rPr>
              <a:t>Вывод: решения — только по качеству на чистых позициях. Замер каждые 4 000 шагов, ~1 минута на карте рядом с обучением.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BFC8D2"/>
                </a:solidFill>
                <a:latin typeface="IBM Plex Sans"/>
              </a:rPr>
              <a:t>10 · гипотеза «модель запомнила файлы» отвергнута: loss на обучающих и невиденных позициях одинаков (1.19 / 1.19)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ЭКСПЕРИМЕНТ 2 · ШАГ ДООБУЧЕНИЯ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Маленький шаг обучения — главный рычаг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32000"/>
            <a:ext cx="330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lr 2e-4, весь объём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200" y="2032000"/>
            <a:ext cx="5530850" cy="355600"/>
          </a:xfrm>
          <a:prstGeom prst="roundRect">
            <a:avLst>
              <a:gd name="adj" fmla="val 10714"/>
            </a:avLst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5050" y="2032000"/>
            <a:ext cx="127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38.7 %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540000"/>
            <a:ext cx="330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lr 1e-4, короткий (18 %)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2540000"/>
            <a:ext cx="5899150" cy="355600"/>
          </a:xfrm>
          <a:prstGeom prst="roundRect">
            <a:avLst>
              <a:gd name="adj" fmla="val 10714"/>
            </a:avLst>
          </a:prstGeom>
          <a:solidFill>
            <a:srgbClr val="9DB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350" y="2540000"/>
            <a:ext cx="127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41.3 %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048000"/>
            <a:ext cx="330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lr 2e-5, короткий (18 %)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3048000"/>
            <a:ext cx="5930900" cy="355600"/>
          </a:xfrm>
          <a:prstGeom prst="roundRect">
            <a:avLst>
              <a:gd name="adj" fmla="val 10714"/>
            </a:avLst>
          </a:prstGeom>
          <a:solidFill>
            <a:srgbClr val="9DB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25100" y="3048000"/>
            <a:ext cx="127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41.5 %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556000"/>
            <a:ext cx="330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3202E"/>
                </a:solidFill>
                <a:latin typeface="IBM Plex Sans"/>
              </a:rPr>
              <a:t>lr 5e-5, весь объём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3556000"/>
            <a:ext cx="6172200" cy="355600"/>
          </a:xfrm>
          <a:prstGeom prst="roundRect">
            <a:avLst>
              <a:gd name="adj" fmla="val 10714"/>
            </a:avLst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6400" y="3556000"/>
            <a:ext cx="127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43.2 %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318000"/>
            <a:ext cx="508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На полном наборе: </a:t>
            </a:r>
            <a:r>
              <a:rPr sz="1500" b="1">
                <a:solidFill>
                  <a:srgbClr val="13202E"/>
                </a:solidFill>
                <a:latin typeface="IBM Plex Sans"/>
              </a:rPr>
              <a:t>40.5 % → 43.8 %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строк целиком, +3.3 п.п. от одной настройки.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6800" y="4318000"/>
            <a:ext cx="5232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Короткие прогоны по 15 минут на запасной H100 — подсказка, полный прогон — ответ.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11 · C# 50M, строка целиком на 2 000 позициях; 18 % = 6 000 шагов со своим косинусом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РЕЗУЛЬТАТ · 50M, ТА ЖЕ СКОРОСТЬ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+11 п.п. для C#, +17 п.п. для 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2000"/>
            <a:ext cx="5156200" cy="2667000"/>
          </a:xfrm>
          <a:prstGeom prst="roundRect">
            <a:avLst>
              <a:gd name="adj" fmla="val 4761"/>
            </a:avLst>
          </a:prstGeom>
          <a:solidFill>
            <a:srgbClr val="F6F4E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235200"/>
            <a:ext cx="444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13202E"/>
                </a:solidFill>
                <a:latin typeface="IBM Plex Sans"/>
              </a:rPr>
              <a:t>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2200" y="2730500"/>
            <a:ext cx="2076450" cy="254000"/>
          </a:xfrm>
          <a:prstGeom prst="roundRect">
            <a:avLst>
              <a:gd name="adj" fmla="val 15000"/>
            </a:avLst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0250" y="2730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старая 32.7 %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200" y="3111500"/>
            <a:ext cx="2781300" cy="254000"/>
          </a:xfrm>
          <a:prstGeom prst="roundRect">
            <a:avLst>
              <a:gd name="adj" fmla="val 15000"/>
            </a:avLst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5100" y="3111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3202E"/>
                </a:solidFill>
                <a:latin typeface="IBM Plex Sans"/>
              </a:rPr>
              <a:t>новая 43.8 %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36195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показ 15.4 → 28.9 % (×1.9)</a:t>
            </a:r>
          </a:p>
          <a:p>
            <a:pPr>
              <a:lnSpc>
                <a:spcPct val="14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точность показанных 81.3 → 89.6 %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000" y="2032000"/>
            <a:ext cx="5156200" cy="2667000"/>
          </a:xfrm>
          <a:prstGeom prst="roundRect">
            <a:avLst>
              <a:gd name="adj" fmla="val 4761"/>
            </a:avLst>
          </a:prstGeom>
          <a:solidFill>
            <a:srgbClr val="F6F4EF"/>
          </a:solidFill>
          <a:ln w="9525">
            <a:solidFill>
              <a:srgbClr val="DA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2235200"/>
            <a:ext cx="444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13202E"/>
                </a:solidFill>
                <a:latin typeface="IBM Plex Sans"/>
              </a:rPr>
              <a:t>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2400" y="2730500"/>
            <a:ext cx="2209800" cy="254000"/>
          </a:xfrm>
          <a:prstGeom prst="roundRect">
            <a:avLst>
              <a:gd name="adj" fmla="val 15000"/>
            </a:avLst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3800" y="2730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3202E"/>
                </a:solidFill>
                <a:latin typeface="IBM Plex Sans"/>
              </a:rPr>
              <a:t>старая 34.8 %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2400" y="3111500"/>
            <a:ext cx="3289300" cy="254000"/>
          </a:xfrm>
          <a:prstGeom prst="roundRect">
            <a:avLst>
              <a:gd name="adj" fmla="val 15000"/>
            </a:avLst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93300" y="3111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3202E"/>
                </a:solidFill>
                <a:latin typeface="IBM Plex Sans"/>
              </a:rPr>
              <a:t>новая 51.8 %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400" y="36195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показ 21.5 → 37.2 % (×1.7)</a:t>
            </a:r>
          </a:p>
          <a:p>
            <a:pPr>
              <a:lnSpc>
                <a:spcPct val="14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точность показанных 80.9 → 91.3 %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9530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13202E"/>
                </a:solidFill>
                <a:latin typeface="IBM Plex Sans"/>
              </a:rPr>
              <a:t>Тот же размер, тот же движок, та же задержка: подсказок почти вдвое больше, а ошибок среди показанных — вдвое меньше.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12 · строка целиком, 12 000 чистых позиций; C# +11.0 п.п. (95 %: +10.3…+11.8), Go +17.0 п.п. (+16.1…+17.8)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ГДЕ ВЫИГРЫШ · C# 50M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solidFill>
                  <a:srgbClr val="13202E"/>
                </a:solidFill>
                <a:latin typeface="IBM Plex Sans"/>
              </a:rPr>
              <a:t>После ключевых слов и операторов — с нуля до половины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2860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после return / 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5300" y="2286000"/>
            <a:ext cx="27305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35300" y="2425700"/>
            <a:ext cx="372110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3400" y="22860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4 → 49 %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705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после оператора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300" y="2705100"/>
            <a:ext cx="5080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35300" y="2844800"/>
            <a:ext cx="363220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4500" y="2705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1 → 48 %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1242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лямбды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300" y="3124200"/>
            <a:ext cx="11430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35300" y="3263900"/>
            <a:ext cx="341630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31242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2 → 45 %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5433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аргументы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300" y="3543300"/>
            <a:ext cx="217170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35300" y="3683000"/>
            <a:ext cx="366395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6250" y="35433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29 → 48 %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39624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LINQ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300" y="3962400"/>
            <a:ext cx="220345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35300" y="4102100"/>
            <a:ext cx="309245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750" y="39624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29 → 41 %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43815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начало строки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300" y="4381500"/>
            <a:ext cx="195580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35300" y="4521200"/>
            <a:ext cx="245110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3400" y="43815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26 → 32 %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48006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после точки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300" y="4800600"/>
            <a:ext cx="350520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35300" y="4940300"/>
            <a:ext cx="373380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6100" y="48006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46 → 49 %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2197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недописанное имя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35300" y="5219700"/>
            <a:ext cx="400685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35300" y="5359400"/>
            <a:ext cx="427355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5850" y="52197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53 → 56 %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12200" y="2349500"/>
            <a:ext cx="228600" cy="114300"/>
          </a:xfrm>
          <a:prstGeom prst="rect">
            <a:avLst/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7000" y="22987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старая модель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12200" y="2667000"/>
            <a:ext cx="228600" cy="114300"/>
          </a:xfrm>
          <a:prstGeom prst="rect">
            <a:avLst/>
          </a:prstGeom>
          <a:solidFill>
            <a:srgbClr val="E07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7000" y="26162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новая 50M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2200" y="3048000"/>
            <a:ext cx="266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Старая модель почти не умела начинать выражение. После точки и в именах прирост скромный: там нужны знания о типах из других файлов.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13 · строка целиком по типам позиции курсора, 12 000 позиций, промпты прежнего образца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РАЗМЕР · 100M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solidFill>
                  <a:srgbClr val="13202E"/>
                </a:solidFill>
                <a:latin typeface="IBM Plex Sans"/>
              </a:rPr>
              <a:t>Вдвое больше параметров — +2…4 п.п. за 2× задержки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2860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3202E"/>
                </a:solidFill>
                <a:latin typeface="IBM Plex Sans"/>
              </a:rPr>
              <a:t>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6289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старая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7700" y="2628900"/>
            <a:ext cx="2997200" cy="254000"/>
          </a:xfrm>
          <a:prstGeom prst="roundRect">
            <a:avLst>
              <a:gd name="adj" fmla="val 15000"/>
            </a:avLst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1900" y="26289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39.3 %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9591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50M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17700" y="2959100"/>
            <a:ext cx="3378200" cy="254000"/>
          </a:xfrm>
          <a:prstGeom prst="roundRect">
            <a:avLst>
              <a:gd name="adj" fmla="val 15000"/>
            </a:avLst>
          </a:prstGeom>
          <a:solidFill>
            <a:srgbClr val="F0B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22900" y="29591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44.3 %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2893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3202E"/>
                </a:solidFill>
                <a:latin typeface="IBM Plex Sans"/>
              </a:rPr>
              <a:t>100M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7700" y="3289300"/>
            <a:ext cx="3530600" cy="254000"/>
          </a:xfrm>
          <a:prstGeom prst="roundRect">
            <a:avLst>
              <a:gd name="adj" fmla="val 15000"/>
            </a:avLst>
          </a:prstGeom>
          <a:solidFill>
            <a:srgbClr val="C96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5300" y="32893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46.3 %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7084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3202E"/>
                </a:solidFill>
                <a:latin typeface="IBM Plex Sans"/>
              </a:rPr>
              <a:t>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0513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старая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17700" y="4051300"/>
            <a:ext cx="3479800" cy="254000"/>
          </a:xfrm>
          <a:prstGeom prst="roundRect">
            <a:avLst>
              <a:gd name="adj" fmla="val 15000"/>
            </a:avLst>
          </a:prstGeom>
          <a:solidFill>
            <a:srgbClr val="B9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0" y="40513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45.7 %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3815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3202E"/>
                </a:solidFill>
                <a:latin typeface="IBM Plex Sans"/>
              </a:rPr>
              <a:t>50M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17700" y="4381500"/>
            <a:ext cx="4000500" cy="254000"/>
          </a:xfrm>
          <a:prstGeom prst="roundRect">
            <a:avLst>
              <a:gd name="adj" fmla="val 15000"/>
            </a:avLst>
          </a:prstGeom>
          <a:solidFill>
            <a:srgbClr val="9DB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5200" y="4381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52.5 %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47117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3202E"/>
                </a:solidFill>
                <a:latin typeface="IBM Plex Sans"/>
              </a:rPr>
              <a:t>100M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17700" y="4711700"/>
            <a:ext cx="4267200" cy="254000"/>
          </a:xfrm>
          <a:prstGeom prst="roundRect">
            <a:avLst>
              <a:gd name="adj" fmla="val 15000"/>
            </a:avLst>
          </a:prstGeom>
          <a:solidFill>
            <a:srgbClr val="2C5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1900" y="47117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56.0 %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077200" y="2286000"/>
          <a:ext cx="330199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957579"/>
                <a:gridCol w="957579"/>
              </a:tblGrid>
              <a:tr h="381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3202E"/>
                          </a:solidFill>
                          <a:latin typeface="IBM Plex Sans"/>
                        </a:rPr>
                        <a:t>цена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3202E"/>
                          </a:solidFill>
                          <a:latin typeface="IBM Plex Sans"/>
                        </a:rPr>
                        <a:t>50M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3202E"/>
                          </a:solidFill>
                          <a:latin typeface="IBM Plex Sans"/>
                        </a:rPr>
                        <a:t>100M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строка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67 мс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122 мс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файл .cml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50 МБ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103 МБ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память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~100 МБ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3202E"/>
                          </a:solidFill>
                          <a:latin typeface="IBM Plex Sans"/>
                        </a:rPr>
                        <a:t>~200 МБ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077200" y="4064000"/>
            <a:ext cx="330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Показ: C# 29.6 → 32.2 %, Go 39.0 → 44.0 % при той же точности. 100M — опция для мощных машин.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14 · строка целиком, 12 000 позиций, промпты нового образца; C# 100M − 50M: +2.0 п.п.; Go: +3.5 п.п.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БАГ ИЗ ПЛАГИНА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newHelloReply: куда пропал пробел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68500"/>
            <a:ext cx="5156200" cy="2095500"/>
          </a:xfrm>
          <a:prstGeom prst="roundRect">
            <a:avLst>
              <a:gd name="adj" fmla="val 6060"/>
            </a:avLst>
          </a:prstGeom>
          <a:solidFill>
            <a:srgbClr val="13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222500"/>
            <a:ext cx="469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400" b="0">
                <a:solidFill>
                  <a:srgbClr val="BFC8D2"/>
                </a:solidFill>
                <a:latin typeface="JetBrains Mono"/>
              </a:rPr>
              <a:t>до обучения:  </a:t>
            </a:r>
            <a:r>
              <a:rPr sz="1400" b="0">
                <a:solidFill>
                  <a:srgbClr val="F6F4EF"/>
                </a:solidFill>
                <a:latin typeface="JetBrains Mono"/>
              </a:rPr>
              <a:t>new│␠Hel│lo│Reply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BFC8D2"/>
                </a:solidFill>
                <a:latin typeface="JetBrains Mono"/>
              </a:rPr>
              <a:t>дообученная: </a:t>
            </a:r>
            <a:r>
              <a:rPr sz="1400" b="0">
                <a:solidFill>
                  <a:srgbClr val="E0782F"/>
                </a:solidFill>
                <a:latin typeface="JetBrains Mono"/>
              </a:rPr>
              <a:t>new│Hello│Reply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175000"/>
            <a:ext cx="469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Пробел — часть токена следующего слова. Модель выбрала токен без пробела.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0" y="1968500"/>
            <a:ext cx="515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Причина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0" y="2286000"/>
            <a:ext cx="5156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После </a:t>
            </a:r>
            <a:r>
              <a:rPr sz="1400" b="1">
                <a:solidFill>
                  <a:srgbClr val="4A5563"/>
                </a:solidFill>
                <a:latin typeface="IBM Plex Sans"/>
              </a:rPr>
              <a:t>return ⟨⟩</a:t>
            </a:r>
            <a:r>
              <a:rPr sz="1400" b="0">
                <a:solidFill>
                  <a:srgbClr val="4A5563"/>
                </a:solidFill>
                <a:latin typeface="IBM Plex Sans"/>
              </a:rPr>
              <a:t> в редакторе ничего нет: промпт кончался токеном-пробелом, а ответ — словом без пробела. Так было в 14 % документов C# и 22 % 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0" y="3302000"/>
            <a:ext cx="515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3202E"/>
                </a:solidFill>
                <a:latin typeface="IBM Plex Sans"/>
              </a:rPr>
              <a:t>Исправление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0" y="3619500"/>
            <a:ext cx="5156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Пробел перед курсором уходит в ответ — и в данных, и в движке плагина.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445000"/>
            <a:ext cx="33909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A8521A"/>
                </a:solidFill>
                <a:latin typeface="IBM Plex Sans"/>
              </a:rPr>
              <a:t>32.7 → 39.3 %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953000"/>
            <a:ext cx="3390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A5563"/>
                </a:solidFill>
                <a:latin typeface="IBM Plex Sans"/>
              </a:rPr>
              <a:t>старая C#-модель — только от нового правила промпта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6900" y="4445000"/>
            <a:ext cx="33909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A8521A"/>
                </a:solidFill>
                <a:latin typeface="IBM Plex Sans"/>
              </a:rPr>
              <a:t>34.8 → 45.7 %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6900" y="4953000"/>
            <a:ext cx="3390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A5563"/>
                </a:solidFill>
                <a:latin typeface="IBM Plex Sans"/>
              </a:rPr>
              <a:t>старая Go-модель, без всякого переобучения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445000"/>
            <a:ext cx="33909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2C5592"/>
                </a:solidFill>
                <a:latin typeface="IBM Plex Sans"/>
              </a:rPr>
              <a:t>16 →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953000"/>
            <a:ext cx="3390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A5563"/>
                </a:solidFill>
                <a:latin typeface="IBM Plex Sans"/>
              </a:rPr>
              <a:t>потерянных пробелов на 2 000 ответов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15 · C#: редкие склейки посреди строки остались (2–3 из 2 000) — следующий шаг: подмешивать данные обучения языку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СВОДКА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Все модели на одном наборе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32000"/>
          <a:ext cx="105664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576"/>
                <a:gridCol w="1901952"/>
                <a:gridCol w="1690624"/>
                <a:gridCol w="1901952"/>
                <a:gridCol w="1479296"/>
              </a:tblGrid>
              <a:tr h="4445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3202E"/>
                          </a:solidFill>
                          <a:latin typeface="IBM Plex Sans"/>
                        </a:rPr>
                        <a:t>модель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3202E"/>
                          </a:solidFill>
                          <a:latin typeface="IBM Plex Sans"/>
                        </a:rPr>
                        <a:t>строка целиком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3202E"/>
                          </a:solidFill>
                          <a:latin typeface="IBM Plex Sans"/>
                        </a:rPr>
                        <a:t>показ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3202E"/>
                          </a:solidFill>
                          <a:latin typeface="IBM Plex Sans"/>
                        </a:rPr>
                        <a:t>точность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3202E"/>
                          </a:solidFill>
                          <a:latin typeface="IBM Plex Sans"/>
                        </a:rPr>
                        <a:t>.cml</a:t>
                      </a:r>
                    </a:p>
                  </a:txBody>
                  <a:tcPr marL="88900" marR="88900" anchor="ctr">
                    <a:solidFill>
                      <a:srgbClr val="ECE9E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C# · старая в плагине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39.3 %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16.9 %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87.7 %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50 МБ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C# · 50M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44.3 %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29.6 %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89.7 %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50 МБ</a:t>
                      </a:r>
                    </a:p>
                  </a:txBody>
                  <a:tcPr marL="88900" marR="88900" anchor="ctr">
                    <a:solidFill>
                      <a:srgbClr val="FBE3D0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C# · 100M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46.3 %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32.2 %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89.9 %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103 МБ</a:t>
                      </a:r>
                    </a:p>
                  </a:txBody>
                  <a:tcPr marL="88900" marR="88900" anchor="ctr">
                    <a:solidFill>
                      <a:srgbClr val="F6F4E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Go · старая в плагине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45.7 %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26.2 %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86.2 %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50 МБ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Go · 50M</a:t>
                      </a:r>
                    </a:p>
                  </a:txBody>
                  <a:tcPr marL="88900" marR="88900" anchor="ctr"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52.5 %</a:t>
                      </a:r>
                    </a:p>
                  </a:txBody>
                  <a:tcPr marL="88900" marR="88900" anchor="ctr"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39.0 %</a:t>
                      </a:r>
                    </a:p>
                  </a:txBody>
                  <a:tcPr marL="88900" marR="88900" anchor="ctr"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91.7 %</a:t>
                      </a:r>
                    </a:p>
                  </a:txBody>
                  <a:tcPr marL="88900" marR="88900" anchor="ctr"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50 МБ</a:t>
                      </a:r>
                    </a:p>
                  </a:txBody>
                  <a:tcPr marL="88900" marR="88900" anchor="ctr">
                    <a:solidFill>
                      <a:srgbClr val="DCE5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Go · 100M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56.0 %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44.0 %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92.3 %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3202E"/>
                          </a:solidFill>
                          <a:latin typeface="IBM Plex Sans"/>
                        </a:rPr>
                        <a:t>103 МБ</a:t>
                      </a:r>
                    </a:p>
                  </a:txBody>
                  <a:tcPr marL="88900" marR="889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334000"/>
            <a:ext cx="1056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13202E"/>
                </a:solidFill>
                <a:latin typeface="IBM Plex Sans"/>
              </a:rPr>
              <a:t>Выделены модели, которые идут в плагины по умолчанию: тот же размер и скорость, что у старых.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16 · 12 000 чистых позиций, промпты нового образца; точность = доля верных среди показанных плагином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E0782F"/>
                </a:solidFill>
                <a:latin typeface="JetBrains Mono"/>
              </a:rPr>
              <a:t>УРОКИ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F6F4EF"/>
                </a:solidFill>
                <a:latin typeface="IBM Plex Sans"/>
              </a:rPr>
              <a:t>Шесть вещей, которые мы бы сделали сразу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2000"/>
            <a:ext cx="3403600" cy="1727200"/>
          </a:xfrm>
          <a:prstGeom prst="roundRect">
            <a:avLst>
              <a:gd name="adj" fmla="val 5882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2606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E0782F"/>
                </a:solidFill>
                <a:latin typeface="IBM Plex Sans"/>
              </a:rPr>
              <a:t>Учить на задаче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2667000"/>
            <a:ext cx="294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Тот же промпт, что у плагина, loss на ответе: +7…+16 п.п.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4200" y="2032000"/>
            <a:ext cx="3403600" cy="1727200"/>
          </a:xfrm>
          <a:prstGeom prst="roundRect">
            <a:avLst>
              <a:gd name="adj" fmla="val 5882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2800" y="22606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E0782F"/>
                </a:solidFill>
                <a:latin typeface="IBM Plex Sans"/>
              </a:rPr>
              <a:t>Маленький шаг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2800" y="2667000"/>
            <a:ext cx="294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5e-5 вместо 2e-4 при дообучении: +3.3 п.п.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5600" y="2032000"/>
            <a:ext cx="3403600" cy="1727200"/>
          </a:xfrm>
          <a:prstGeom prst="roundRect">
            <a:avLst>
              <a:gd name="adj" fmla="val 5882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22606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E0782F"/>
                </a:solidFill>
                <a:latin typeface="IBM Plex Sans"/>
              </a:rPr>
              <a:t>Не верить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2667000"/>
            <a:ext cx="294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Мерить качество каждые 4 000 шагов на чистых позициях.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937000"/>
            <a:ext cx="3403600" cy="1727200"/>
          </a:xfrm>
          <a:prstGeom prst="roundRect">
            <a:avLst>
              <a:gd name="adj" fmla="val 5882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1656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DB7DD"/>
                </a:solidFill>
                <a:latin typeface="IBM Plex Sans"/>
              </a:rPr>
              <a:t>Чистый набор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4572000"/>
            <a:ext cx="294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Свежие репозитории, ноль пересечений, парный бутстрап.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4200" y="3937000"/>
            <a:ext cx="3403600" cy="1727200"/>
          </a:xfrm>
          <a:prstGeom prst="roundRect">
            <a:avLst>
              <a:gd name="adj" fmla="val 5882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2800" y="41656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DB7DD"/>
                </a:solidFill>
                <a:latin typeface="IBM Plex Sans"/>
              </a:rPr>
              <a:t>Проверять идеи дёшево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800" y="4572000"/>
            <a:ext cx="294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Контекст из IDE не помог — узнали за час, а не за месяц.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5600" y="3937000"/>
            <a:ext cx="3403600" cy="1727200"/>
          </a:xfrm>
          <a:prstGeom prst="roundRect">
            <a:avLst>
              <a:gd name="adj" fmla="val 5882"/>
            </a:avLst>
          </a:prstGeom>
          <a:solidFill>
            <a:srgbClr val="1E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4200" y="41656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DB7DD"/>
                </a:solidFill>
                <a:latin typeface="IBM Plex Sans"/>
              </a:rPr>
              <a:t>Смотреть на токены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4200" y="4572000"/>
            <a:ext cx="2946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BFC8D2"/>
                </a:solidFill>
                <a:latin typeface="IBM Plex Sans"/>
              </a:rPr>
              <a:t>Один пробел в промпте — до +11 п.п. у старой модели.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BFC8D2"/>
                </a:solidFill>
                <a:latin typeface="IBM Plex Sans"/>
              </a:rPr>
              <a:t>17 · и инфраструктура: снимки каждые 20 минут, монитор, перенос обучения между серверами без потерь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A8521A"/>
                </a:solidFill>
                <a:latin typeface="JetBrains Mono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13202E"/>
                </a:solidFill>
                <a:latin typeface="IBM Plex Sans"/>
              </a:rPr>
              <a:t>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32000"/>
            <a:ext cx="40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A8521A"/>
                </a:solidFill>
                <a:latin typeface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7000" y="2032000"/>
            <a:ext cx="998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Новое правило пробелов в движке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обоих плагинов — бесплатный прирост и старым моделям.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565400"/>
            <a:ext cx="40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A8521A"/>
                </a:solidFill>
                <a:latin typeface="JetBrains Mon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565400"/>
            <a:ext cx="998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Подмешивать данные обучения языку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в дообучение — убрать редкие склейки в C#.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098800"/>
            <a:ext cx="40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A8521A"/>
                </a:solidFill>
                <a:latin typeface="JetBrains Mon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7000" y="3098800"/>
            <a:ext cx="998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Многострочные подсказки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: тело метода после «{» с отдельным стоп-токеном.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632200"/>
            <a:ext cx="40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A8521A"/>
                </a:solidFill>
                <a:latin typeface="JetBrains Mono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7000" y="3632200"/>
            <a:ext cx="998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Знания из соседних файлов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для позиций после точки — там прирост пока скромный.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165600"/>
            <a:ext cx="40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A8521A"/>
                </a:solidFill>
                <a:latin typeface="JetBrains Mono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7000" y="4165600"/>
            <a:ext cx="998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3202E"/>
                </a:solidFill>
                <a:latin typeface="IBM Plex Sans"/>
              </a:rPr>
              <a:t>100M как режим «качество»</a:t>
            </a:r>
            <a:r>
              <a:rPr sz="1500" b="0">
                <a:solidFill>
                  <a:srgbClr val="13202E"/>
                </a:solidFill>
                <a:latin typeface="IBM Plex Sans"/>
              </a:rPr>
              <a:t> — после замеров задержки на ноутбуках.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49530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A5563"/>
                </a:solidFill>
                <a:latin typeface="IBM Plex Sans"/>
              </a:rPr>
              <a:t>Данные: huggingface.co/datasets/dvislobokov/csharp-ml-complation · go-ml-complation · код: github.com/dvislobokov/csharp-dataset-prepare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62230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6B7684"/>
                </a:solidFill>
                <a:latin typeface="IBM Plex Sans"/>
              </a:rPr>
              <a:t>18 · спасибо! вопросы · [контакты докладчика]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